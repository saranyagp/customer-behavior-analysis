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4/13/2025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Customer Behavior Analysis</a:t>
            </a:r>
          </a:p>
        </p:txBody>
      </p:sp>
      <p:sp>
        <p:nvSpPr>
          <p:cNvPr id="3" name="Subtitle 2"/>
          <p:cNvSpPr>
            <a:spLocks noGrp="1"/>
          </p:cNvSpPr>
          <p:nvPr>
            <p:ph type="subTitle" idx="1"/>
          </p:nvPr>
        </p:nvSpPr>
        <p:spPr/>
        <p:txBody>
          <a:bodyPr/>
          <a:lstStyle/>
          <a:p>
            <a:r>
              <a:rPr lang="en-US" dirty="0"/>
              <a:t>By,</a:t>
            </a:r>
          </a:p>
          <a:p>
            <a:r>
              <a:rPr lang="en-US" sz="2400" b="1" dirty="0">
                <a:solidFill>
                  <a:srgbClr val="FF0000"/>
                </a:solidFill>
              </a:rPr>
              <a:t>Saranya G</a:t>
            </a:r>
          </a:p>
        </p:txBody>
      </p:sp>
    </p:spTree>
    <p:extLst>
      <p:ext uri="{BB962C8B-B14F-4D97-AF65-F5344CB8AC3E}">
        <p14:creationId xmlns:p14="http://schemas.microsoft.com/office/powerpoint/2010/main" val="22713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 the Marketing Manager</a:t>
            </a:r>
          </a:p>
        </p:txBody>
      </p:sp>
      <p:sp>
        <p:nvSpPr>
          <p:cNvPr id="3" name="Content Placeholder 2"/>
          <p:cNvSpPr>
            <a:spLocks noGrp="1"/>
          </p:cNvSpPr>
          <p:nvPr>
            <p:ph idx="1"/>
          </p:nvPr>
        </p:nvSpPr>
        <p:spPr>
          <a:xfrm>
            <a:off x="822477" y="1488613"/>
            <a:ext cx="8596668" cy="5246016"/>
          </a:xfrm>
        </p:spPr>
        <p:txBody>
          <a:bodyPr>
            <a:normAutofit fontScale="92500" lnSpcReduction="20000"/>
          </a:bodyPr>
          <a:lstStyle/>
          <a:p>
            <a:pPr marL="0" indent="0">
              <a:buNone/>
            </a:pPr>
            <a:r>
              <a:rPr lang="en-US" dirty="0"/>
              <a:t>Hi Jane,</a:t>
            </a:r>
          </a:p>
          <a:p>
            <a:pPr marL="457200" lvl="1" indent="0">
              <a:buNone/>
            </a:pPr>
            <a:r>
              <a:rPr lang="en-US" dirty="0"/>
              <a:t>	We have analyzed the data and we have some findings which I believe it would help you to find the answers for your questions. Hope we have found solutions for your queries and concern.</a:t>
            </a:r>
          </a:p>
          <a:p>
            <a:pPr lvl="1"/>
            <a:r>
              <a:rPr lang="en-US" dirty="0"/>
              <a:t>According to the data which you are given customers have been engaged in the home page is around 40 people who spends an average of 160 minutes and in product page 24 people spends an average of 182 minutes. But only 19 people are reaching checkout stage out of this only 6 are buying products from our website.</a:t>
            </a:r>
          </a:p>
          <a:p>
            <a:pPr lvl="1"/>
            <a:r>
              <a:rPr lang="en-US" dirty="0"/>
              <a:t>We have around 14 customers dropping off during the checkout time without buying.</a:t>
            </a:r>
          </a:p>
          <a:p>
            <a:pPr lvl="1"/>
            <a:r>
              <a:rPr lang="en-US" dirty="0"/>
              <a:t>The products which are rated more than 3 by the customers are preferred by new customers. </a:t>
            </a:r>
          </a:p>
          <a:p>
            <a:pPr lvl="1"/>
            <a:r>
              <a:rPr lang="en-US" dirty="0"/>
              <a:t>We have 8 products rated above 4 rating out of 5 and 10 products have been rated between 3 to 4. This is also an impacting factor to downfall of the customer engagement. </a:t>
            </a:r>
          </a:p>
          <a:p>
            <a:pPr lvl="1"/>
            <a:r>
              <a:rPr lang="en-US" dirty="0"/>
              <a:t>This analysis made us to find that we have to concentrate on website interaction to make it user friendly for the customers to do purchase in a comfortable way. Highlighting good rated products and providing notifications related to their search can also make new buyers. </a:t>
            </a:r>
          </a:p>
          <a:p>
            <a:pPr lvl="1"/>
            <a:endParaRPr lang="en-US" dirty="0"/>
          </a:p>
          <a:p>
            <a:pPr marL="457200" lvl="1" indent="0">
              <a:buNone/>
            </a:pPr>
            <a:r>
              <a:rPr lang="en-US" dirty="0"/>
              <a:t>Regards,</a:t>
            </a:r>
          </a:p>
          <a:p>
            <a:pPr marL="457200" lvl="1" indent="0">
              <a:buNone/>
            </a:pPr>
            <a:r>
              <a:rPr lang="en-US" dirty="0"/>
              <a:t>Saranya G</a:t>
            </a:r>
          </a:p>
        </p:txBody>
      </p:sp>
    </p:spTree>
    <p:extLst>
      <p:ext uri="{BB962C8B-B14F-4D97-AF65-F5344CB8AC3E}">
        <p14:creationId xmlns:p14="http://schemas.microsoft.com/office/powerpoint/2010/main" val="2451539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167813"/>
            <a:ext cx="8596668" cy="1320800"/>
          </a:xfrm>
        </p:spPr>
        <p:txBody>
          <a:bodyPr/>
          <a:lstStyle/>
          <a:p>
            <a:r>
              <a:rPr lang="en-US" dirty="0"/>
              <a:t>To the Customer Experience Manager</a:t>
            </a:r>
          </a:p>
        </p:txBody>
      </p:sp>
      <p:sp>
        <p:nvSpPr>
          <p:cNvPr id="5" name="Content Placeholder 4"/>
          <p:cNvSpPr>
            <a:spLocks noGrp="1"/>
          </p:cNvSpPr>
          <p:nvPr>
            <p:ph idx="1"/>
          </p:nvPr>
        </p:nvSpPr>
        <p:spPr>
          <a:xfrm>
            <a:off x="677334" y="865397"/>
            <a:ext cx="8596668" cy="3880773"/>
          </a:xfrm>
        </p:spPr>
        <p:txBody>
          <a:bodyPr>
            <a:noAutofit/>
          </a:bodyPr>
          <a:lstStyle/>
          <a:p>
            <a:pPr marL="0" indent="0">
              <a:buNone/>
            </a:pPr>
            <a:r>
              <a:rPr lang="en-US" sz="1600" dirty="0"/>
              <a:t>Hi John,</a:t>
            </a:r>
          </a:p>
          <a:p>
            <a:pPr marL="457200" lvl="1" indent="0">
              <a:buNone/>
            </a:pPr>
            <a:r>
              <a:rPr lang="en-US" dirty="0"/>
              <a:t>	We have analyzed the data and we have some findings which I believe it would help you to find the answers for your questions. Please find below the findings of our analysis.</a:t>
            </a:r>
          </a:p>
          <a:p>
            <a:pPr lvl="1"/>
            <a:r>
              <a:rPr lang="en-US" dirty="0"/>
              <a:t>Many people said that their experience was usual and nothing special, try to give some interesting offers or coupons so that people will show interest in product engagement.</a:t>
            </a:r>
          </a:p>
          <a:p>
            <a:pPr lvl="1"/>
            <a:r>
              <a:rPr lang="en-US" dirty="0"/>
              <a:t>And some people finds that product is not worth the price and 1 had an experience of poor performance of the product. Kindly check and work on the areas to attract more customers.</a:t>
            </a:r>
          </a:p>
          <a:p>
            <a:pPr lvl="1"/>
            <a:r>
              <a:rPr lang="en-US" dirty="0"/>
              <a:t>Many people have said that their overall experience was good from packing to performance of the product, but kindly check whether the price of the product can be reduced as many has said that the product is not worth the money.</a:t>
            </a:r>
          </a:p>
          <a:p>
            <a:pPr lvl="1"/>
            <a:r>
              <a:rPr lang="en-US" dirty="0"/>
              <a:t>Also, interesting offers and price changes will attract more customers and carefully taking customers preferences also make a good change in product purchase rate.</a:t>
            </a:r>
          </a:p>
          <a:p>
            <a:pPr lvl="1"/>
            <a:r>
              <a:rPr lang="en-US" dirty="0"/>
              <a:t>Based on our review repeated purchases are quite low because there may be a quality issues behind this. Take this too in consideration for betterment.</a:t>
            </a:r>
          </a:p>
          <a:p>
            <a:pPr marL="457200" lvl="1" indent="0">
              <a:buNone/>
            </a:pPr>
            <a:r>
              <a:rPr lang="en-US" dirty="0"/>
              <a:t>Regards</a:t>
            </a:r>
          </a:p>
          <a:p>
            <a:pPr marL="457200" lvl="1" indent="0">
              <a:buNone/>
            </a:pPr>
            <a:r>
              <a:rPr lang="en-US" dirty="0"/>
              <a:t>Saranya G</a:t>
            </a:r>
          </a:p>
          <a:p>
            <a:pPr marL="0" indent="0">
              <a:buNone/>
            </a:pPr>
            <a:endParaRPr lang="en-US" sz="1600" dirty="0"/>
          </a:p>
          <a:p>
            <a:pPr marL="0" indent="0">
              <a:buNone/>
            </a:pPr>
            <a:endParaRPr lang="en-US" sz="1600" dirty="0"/>
          </a:p>
          <a:p>
            <a:pPr marL="0" indent="0">
              <a:buNone/>
            </a:pPr>
            <a:endParaRPr lang="en-US" sz="1600" dirty="0"/>
          </a:p>
        </p:txBody>
      </p:sp>
    </p:spTree>
    <p:extLst>
      <p:ext uri="{BB962C8B-B14F-4D97-AF65-F5344CB8AC3E}">
        <p14:creationId xmlns:p14="http://schemas.microsoft.com/office/powerpoint/2010/main" val="871998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0635"/>
          </a:xfrm>
        </p:spPr>
        <p:txBody>
          <a:bodyPr>
            <a:normAutofit fontScale="90000"/>
          </a:bodyPr>
          <a:lstStyle/>
          <a:p>
            <a:r>
              <a:rPr lang="en-US" dirty="0"/>
              <a:t>Steps followed :</a:t>
            </a:r>
          </a:p>
        </p:txBody>
      </p:sp>
      <p:sp>
        <p:nvSpPr>
          <p:cNvPr id="3" name="Content Placeholder 2"/>
          <p:cNvSpPr>
            <a:spLocks noGrp="1"/>
          </p:cNvSpPr>
          <p:nvPr>
            <p:ph idx="1"/>
          </p:nvPr>
        </p:nvSpPr>
        <p:spPr>
          <a:xfrm>
            <a:off x="677334" y="1210235"/>
            <a:ext cx="8596668" cy="3880773"/>
          </a:xfrm>
        </p:spPr>
        <p:txBody>
          <a:bodyPr>
            <a:normAutofit/>
          </a:bodyPr>
          <a:lstStyle/>
          <a:p>
            <a:pPr lvl="1"/>
            <a:r>
              <a:rPr lang="en-US" dirty="0"/>
              <a:t>First CSV files are loaded into SQL.</a:t>
            </a:r>
          </a:p>
          <a:p>
            <a:pPr lvl="1"/>
            <a:r>
              <a:rPr lang="en-US" dirty="0"/>
              <a:t>Tables were created in SQL.</a:t>
            </a:r>
          </a:p>
          <a:p>
            <a:pPr lvl="1"/>
            <a:r>
              <a:rPr lang="en-US" dirty="0"/>
              <a:t>Those tables were exported to Python from SQL.</a:t>
            </a:r>
          </a:p>
          <a:p>
            <a:pPr lvl="1"/>
            <a:r>
              <a:rPr lang="en-US" dirty="0"/>
              <a:t>Those tables were collated using JOINS to extract relevant data.</a:t>
            </a:r>
          </a:p>
          <a:p>
            <a:pPr lvl="1"/>
            <a:r>
              <a:rPr lang="en-US" dirty="0"/>
              <a:t>Using those data's some of the below findings were extracted,</a:t>
            </a:r>
          </a:p>
          <a:p>
            <a:pPr lvl="3">
              <a:buFont typeface="Wingdings" panose="05000000000000000000" pitchFamily="2" charset="2"/>
              <a:buChar char="q"/>
            </a:pPr>
            <a:r>
              <a:rPr lang="en-US" dirty="0"/>
              <a:t>Drop off points</a:t>
            </a:r>
          </a:p>
          <a:p>
            <a:pPr lvl="3">
              <a:buFont typeface="Wingdings" panose="05000000000000000000" pitchFamily="2" charset="2"/>
              <a:buChar char="q"/>
            </a:pPr>
            <a:r>
              <a:rPr lang="en-US" dirty="0"/>
              <a:t>Conversion rate</a:t>
            </a:r>
          </a:p>
          <a:p>
            <a:pPr lvl="3">
              <a:buFont typeface="Wingdings" panose="05000000000000000000" pitchFamily="2" charset="2"/>
              <a:buChar char="q"/>
            </a:pPr>
            <a:r>
              <a:rPr lang="en-US" dirty="0"/>
              <a:t>Duration spent on each stage</a:t>
            </a:r>
          </a:p>
          <a:p>
            <a:pPr lvl="3">
              <a:buFont typeface="Wingdings" panose="05000000000000000000" pitchFamily="2" charset="2"/>
              <a:buChar char="q"/>
            </a:pPr>
            <a:r>
              <a:rPr lang="en-US" dirty="0"/>
              <a:t>Ratings of the product</a:t>
            </a:r>
          </a:p>
          <a:p>
            <a:pPr lvl="3">
              <a:buFont typeface="Wingdings" panose="05000000000000000000" pitchFamily="2" charset="2"/>
              <a:buChar char="q"/>
            </a:pPr>
            <a:r>
              <a:rPr lang="en-US" dirty="0"/>
              <a:t>Product performance</a:t>
            </a:r>
          </a:p>
          <a:p>
            <a:pPr lvl="3">
              <a:buFont typeface="Wingdings" panose="05000000000000000000" pitchFamily="2" charset="2"/>
              <a:buChar char="q"/>
            </a:pPr>
            <a:r>
              <a:rPr lang="en-US" dirty="0"/>
              <a:t>Customer retention rate</a:t>
            </a:r>
          </a:p>
          <a:p>
            <a:pPr lvl="3">
              <a:buFont typeface="Wingdings" panose="05000000000000000000" pitchFamily="2" charset="2"/>
              <a:buChar char="q"/>
            </a:pPr>
            <a:endParaRPr lang="en-US" dirty="0"/>
          </a:p>
          <a:p>
            <a:pPr marL="1371600" lvl="3" indent="0">
              <a:buNone/>
            </a:pPr>
            <a:endParaRPr lang="en-US" dirty="0"/>
          </a:p>
          <a:p>
            <a:pPr lvl="3">
              <a:buFont typeface="Wingdings" panose="05000000000000000000" pitchFamily="2" charset="2"/>
              <a:buChar char="q"/>
            </a:pPr>
            <a:endParaRPr lang="en-US" dirty="0"/>
          </a:p>
        </p:txBody>
      </p:sp>
    </p:spTree>
    <p:extLst>
      <p:ext uri="{BB962C8B-B14F-4D97-AF65-F5344CB8AC3E}">
        <p14:creationId xmlns:p14="http://schemas.microsoft.com/office/powerpoint/2010/main" val="4235184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89965"/>
            <a:ext cx="8596668" cy="5651397"/>
          </a:xfrm>
        </p:spPr>
        <p:txBody>
          <a:bodyPr/>
          <a:lstStyle/>
          <a:p>
            <a:r>
              <a:rPr lang="en-US" dirty="0"/>
              <a:t>And finally with extracted data’s, solutions for both Marketing manager and Customer Experience manager were given to them separately.</a:t>
            </a:r>
          </a:p>
          <a:p>
            <a:r>
              <a:rPr lang="en-US" dirty="0"/>
              <a:t>Some of key areas for improvement were highlighted to both to work on those to increase customer experience and engagement.</a:t>
            </a:r>
          </a:p>
          <a:p>
            <a:endParaRPr lang="en-US" dirty="0"/>
          </a:p>
        </p:txBody>
      </p:sp>
    </p:spTree>
    <p:extLst>
      <p:ext uri="{BB962C8B-B14F-4D97-AF65-F5344CB8AC3E}">
        <p14:creationId xmlns:p14="http://schemas.microsoft.com/office/powerpoint/2010/main" val="2036932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Thank you</a:t>
            </a:r>
          </a:p>
        </p:txBody>
      </p:sp>
      <p:sp>
        <p:nvSpPr>
          <p:cNvPr id="5" name="Subtitle 4"/>
          <p:cNvSpPr>
            <a:spLocks noGrp="1"/>
          </p:cNvSpPr>
          <p:nvPr>
            <p:ph type="subTitle" idx="1"/>
          </p:nvPr>
        </p:nvSpPr>
        <p:spPr/>
        <p:txBody>
          <a:bodyPr/>
          <a:lstStyle/>
          <a:p>
            <a:r>
              <a:rPr lang="en-US" b="1" dirty="0"/>
              <a:t>By</a:t>
            </a:r>
          </a:p>
          <a:p>
            <a:r>
              <a:rPr lang="en-US" b="1" dirty="0">
                <a:solidFill>
                  <a:srgbClr val="FF0000"/>
                </a:solidFill>
              </a:rPr>
              <a:t>Saranya G</a:t>
            </a:r>
          </a:p>
        </p:txBody>
      </p:sp>
    </p:spTree>
    <p:extLst>
      <p:ext uri="{BB962C8B-B14F-4D97-AF65-F5344CB8AC3E}">
        <p14:creationId xmlns:p14="http://schemas.microsoft.com/office/powerpoint/2010/main" val="41912053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621</TotalTime>
  <Words>549</Words>
  <Application>Microsoft Office PowerPoint</Application>
  <PresentationFormat>Widescreen</PresentationFormat>
  <Paragraphs>43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Trebuchet MS</vt:lpstr>
      <vt:lpstr>Wingdings</vt:lpstr>
      <vt:lpstr>Wingdings 3</vt:lpstr>
      <vt:lpstr>Facet</vt:lpstr>
      <vt:lpstr>Customer Behavior Analysis</vt:lpstr>
      <vt:lpstr>To the Marketing Manager</vt:lpstr>
      <vt:lpstr>To the Customer Experience Manager</vt:lpstr>
      <vt:lpstr>Steps followed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Behaviour Analysis</dc:title>
  <dc:creator>ani mani</dc:creator>
  <cp:lastModifiedBy>saranyagovind98@gmail.com</cp:lastModifiedBy>
  <cp:revision>14</cp:revision>
  <dcterms:created xsi:type="dcterms:W3CDTF">2025-04-13T01:05:40Z</dcterms:created>
  <dcterms:modified xsi:type="dcterms:W3CDTF">2025-04-13T14:29:31Z</dcterms:modified>
</cp:coreProperties>
</file>